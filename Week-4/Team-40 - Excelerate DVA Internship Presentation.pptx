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strument Sans SemiBold"/>
      <p:regular r:id="rId21"/>
      <p:bold r:id="rId22"/>
      <p:italic r:id="rId23"/>
      <p:boldItalic r:id="rId24"/>
    </p:embeddedFont>
    <p:embeddedFont>
      <p:font typeface="Instrument Sans Medium"/>
      <p:regular r:id="rId25"/>
      <p:bold r:id="rId26"/>
      <p:italic r:id="rId27"/>
      <p:boldItalic r:id="rId28"/>
    </p:embeddedFont>
    <p:embeddedFont>
      <p:font typeface="Lora SemiBold"/>
      <p:regular r:id="rId29"/>
      <p:bold r:id="rId30"/>
      <p:italic r:id="rId31"/>
      <p:boldItalic r:id="rId32"/>
    </p:embeddedFont>
    <p:embeddedFont>
      <p:font typeface="Lora"/>
      <p:regular r:id="rId33"/>
      <p:bold r:id="rId34"/>
      <p:italic r:id="rId35"/>
      <p:boldItalic r:id="rId36"/>
    </p:embeddedFont>
    <p:embeddedFont>
      <p:font typeface="Instrument Sans"/>
      <p:regular r:id="rId37"/>
      <p:bold r:id="rId38"/>
      <p:italic r:id="rId39"/>
      <p:boldItalic r:id="rId40"/>
    </p:embeddedFont>
    <p:embeddedFont>
      <p:font typeface="Lexend Medium"/>
      <p:regular r:id="rId41"/>
      <p:bold r:id="rId42"/>
    </p:embeddedFont>
    <p:embeddedFont>
      <p:font typeface="Spectral"/>
      <p:regular r:id="rId43"/>
      <p:bold r:id="rId44"/>
      <p:italic r:id="rId45"/>
      <p:boldItalic r:id="rId46"/>
    </p:embeddedFont>
    <p:embeddedFont>
      <p:font typeface="Lexen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strumentSans-boldItalic.fntdata"/><Relationship Id="rId42" Type="http://schemas.openxmlformats.org/officeDocument/2006/relationships/font" Target="fonts/LexendMedium-bold.fntdata"/><Relationship Id="rId41" Type="http://schemas.openxmlformats.org/officeDocument/2006/relationships/font" Target="fonts/LexendMedium-regular.fntdata"/><Relationship Id="rId44" Type="http://schemas.openxmlformats.org/officeDocument/2006/relationships/font" Target="fonts/Spectral-bold.fntdata"/><Relationship Id="rId43" Type="http://schemas.openxmlformats.org/officeDocument/2006/relationships/font" Target="fonts/Spectral-regular.fntdata"/><Relationship Id="rId46" Type="http://schemas.openxmlformats.org/officeDocument/2006/relationships/font" Target="fonts/Spectral-boldItalic.fntdata"/><Relationship Id="rId45" Type="http://schemas.openxmlformats.org/officeDocument/2006/relationships/font" Target="fonts/Spectral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exend-bold.fntdata"/><Relationship Id="rId47" Type="http://schemas.openxmlformats.org/officeDocument/2006/relationships/font" Target="fonts/Lexe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SemiBold-italic.fntdata"/><Relationship Id="rId30" Type="http://schemas.openxmlformats.org/officeDocument/2006/relationships/font" Target="fonts/LoraSemiBold-bold.fntdata"/><Relationship Id="rId33" Type="http://schemas.openxmlformats.org/officeDocument/2006/relationships/font" Target="fonts/Lora-regular.fntdata"/><Relationship Id="rId32" Type="http://schemas.openxmlformats.org/officeDocument/2006/relationships/font" Target="fonts/LoraSemiBold-boldItalic.fntdata"/><Relationship Id="rId35" Type="http://schemas.openxmlformats.org/officeDocument/2006/relationships/font" Target="fonts/Lora-italic.fntdata"/><Relationship Id="rId34" Type="http://schemas.openxmlformats.org/officeDocument/2006/relationships/font" Target="fonts/Lora-bold.fntdata"/><Relationship Id="rId37" Type="http://schemas.openxmlformats.org/officeDocument/2006/relationships/font" Target="fonts/InstrumentSans-regular.fntdata"/><Relationship Id="rId36" Type="http://schemas.openxmlformats.org/officeDocument/2006/relationships/font" Target="fonts/Lora-boldItalic.fntdata"/><Relationship Id="rId39" Type="http://schemas.openxmlformats.org/officeDocument/2006/relationships/font" Target="fonts/InstrumentSans-italic.fntdata"/><Relationship Id="rId38" Type="http://schemas.openxmlformats.org/officeDocument/2006/relationships/font" Target="fonts/InstrumentSans-bold.fntdata"/><Relationship Id="rId20" Type="http://schemas.openxmlformats.org/officeDocument/2006/relationships/slide" Target="slides/slide15.xml"/><Relationship Id="rId22" Type="http://schemas.openxmlformats.org/officeDocument/2006/relationships/font" Target="fonts/InstrumentSansSemiBold-bold.fntdata"/><Relationship Id="rId21" Type="http://schemas.openxmlformats.org/officeDocument/2006/relationships/font" Target="fonts/InstrumentSansSemiBold-regular.fntdata"/><Relationship Id="rId24" Type="http://schemas.openxmlformats.org/officeDocument/2006/relationships/font" Target="fonts/InstrumentSansSemiBold-boldItalic.fntdata"/><Relationship Id="rId23" Type="http://schemas.openxmlformats.org/officeDocument/2006/relationships/font" Target="fonts/InstrumentSansSemiBold-italic.fntdata"/><Relationship Id="rId26" Type="http://schemas.openxmlformats.org/officeDocument/2006/relationships/font" Target="fonts/InstrumentSansMedium-bold.fntdata"/><Relationship Id="rId25" Type="http://schemas.openxmlformats.org/officeDocument/2006/relationships/font" Target="fonts/InstrumentSansMedium-regular.fntdata"/><Relationship Id="rId28" Type="http://schemas.openxmlformats.org/officeDocument/2006/relationships/font" Target="fonts/InstrumentSansMedium-boldItalic.fntdata"/><Relationship Id="rId27" Type="http://schemas.openxmlformats.org/officeDocument/2006/relationships/font" Target="fonts/InstrumentSansMedium-italic.fntdata"/><Relationship Id="rId29" Type="http://schemas.openxmlformats.org/officeDocument/2006/relationships/font" Target="fonts/Lora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78ba1b42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78ba1b42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78ba1b4228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78ba1b4228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853546027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853546027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78ba1b4228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78ba1b4228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85306dca3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85306dca3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85306dca3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85306dca3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85306dca3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85306dca3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853546027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853546027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85306dca3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85306dca3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85306dca3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85306dca3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85306dca37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85306dca3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853546027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853546027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79ec369ef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79ec369ef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85306dca3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85306dca3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853546027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853546027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12" name="Google Shape;12;p2"/>
          <p:cNvPicPr preferRelativeResize="0"/>
          <p:nvPr/>
        </p:nvPicPr>
        <p:blipFill rotWithShape="1">
          <a:blip r:embed="rId2">
            <a:alphaModFix/>
          </a:blip>
          <a:srcRect b="23377" l="26958" r="35832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13" name="Google Shape;13;p2"/>
          <p:cNvPicPr preferRelativeResize="0"/>
          <p:nvPr/>
        </p:nvPicPr>
        <p:blipFill rotWithShape="1">
          <a:blip r:embed="rId3">
            <a:alphaModFix/>
          </a:blip>
          <a:srcRect b="1224" l="28620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24" name="Google Shape;24;p3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25" name="Google Shape;25;p3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 rotWithShape="1">
            <a:blip r:embed="rId3">
              <a:alphaModFix/>
            </a:blip>
            <a:srcRect b="0" l="0" r="0" t="25727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" name="Google Shape;30;p4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35" name="Google Shape;35;p4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 rotWithShape="1">
            <a:blip r:embed="rId3">
              <a:alphaModFix/>
            </a:blip>
            <a:srcRect b="0" l="0" r="0" t="25727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5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6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7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" name="Google Shape;84;p7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7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7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7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7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7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4" name="Google Shape;94;p7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7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8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4" name="Google Shape;104;p8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5" name="Google Shape;105;p8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7" name="Google Shape;107;p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8" name="Google Shape;108;p8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9" name="Google Shape;109;p8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0" name="Google Shape;110;p8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" name="Google Shape;112;p8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3" name="Google Shape;113;p8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5" name="Google Shape;115;p8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6" name="Google Shape;116;p8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9" name="Google Shape;119;p8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23" name="Google Shape;123;p9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4" name="Google Shape;124;p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7" name="Google Shape;127;p10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10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5" name="Google Shape;135;p11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6" name="Google Shape;136;p11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141" name="Google Shape;141;p1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2" name="Google Shape;142;p12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3" name="Google Shape;143;p1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9" name="Google Shape;149;p13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0" name="Google Shape;150;p1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1" name="Google Shape;151;p1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3" name="Google Shape;153;p13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1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13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9" name="Google Shape;159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5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163" name="Google Shape;163;p15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9" name="Google Shape;169;p16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170" name="Google Shape;170;p16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16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6" name="Google Shape;176;p16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7" name="Google Shape;177;p1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180" name="Google Shape;180;p1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17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02" name="Google Shape;202;p18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3" name="Google Shape;213;p1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4" name="Google Shape;214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19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16" name="Google Shape;216;p19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7" name="Google Shape;217;p19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19" name="Google Shape;219;p19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22" name="Google Shape;222;p19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224" name="Google Shape;224;p19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8" name="Google Shape;228;p2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0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2" name="Google Shape;232;p20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3" name="Google Shape;233;p20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5" name="Google Shape;245;p20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7" name="Google Shape;247;p20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2" name="Google Shape;252;p21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3" name="Google Shape;253;p21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4" name="Google Shape;254;p21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5" name="Google Shape;255;p21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6" name="Google Shape;256;p21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7" name="Google Shape;257;p2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21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0" name="Google Shape;260;p21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61" name="Google Shape;261;p21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62" name="Google Shape;262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1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66" name="Google Shape;266;p21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9" name="Google Shape;269;p22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0" name="Google Shape;270;p22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1" name="Google Shape;271;p2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2" name="Google Shape;272;p22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4" name="Google Shape;274;p22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5" name="Google Shape;275;p2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6" name="Google Shape;276;p22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82" name="Google Shape;282;p23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83" name="Google Shape;283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2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5" name="Google Shape;295;p25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6" name="Google Shape;296;p25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8" name="Google Shape;298;p25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9" name="Google Shape;299;p25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0" name="Google Shape;300;p25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1" name="Google Shape;301;p25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02" name="Google Shape;302;p25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03" name="Google Shape;303;p25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6" name="Google Shape;306;p26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8" name="Google Shape;308;p26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309" name="Google Shape;309;p26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10" name="Google Shape;310;p26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1" name="Google Shape;311;p26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3" name="Google Shape;313;p26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17" name="Google Shape;317;p27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18" name="Google Shape;318;p27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19" name="Google Shape;319;p27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20" name="Google Shape;320;p2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2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2" name="Google Shape;322;p27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27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7" name="Google Shape;327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3" name="Google Shape;333;p28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5" name="Google Shape;335;p28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6" name="Google Shape;336;p28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9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1" name="Google Shape;341;p29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4" name="Google Shape;344;p29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5" name="Google Shape;345;p29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7" name="Google Shape;347;p29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8" name="Google Shape;348;p29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29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0" name="Google Shape;350;p29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1" name="Google Shape;351;p29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29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3" name="Google Shape;353;p29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4" name="Google Shape;354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57" name="Google Shape;35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2" name="Google Shape;36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76" name="Google Shape;376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7" name="Google Shape;377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82" name="Google Shape;382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8" name="Google Shape;398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5" name="Google Shape;405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06" name="Google Shape;406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3" name="Google Shape;413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5" name="Google Shape;415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16" name="Google Shape;416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0" name="Google Shape;430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8" name="Google Shape;43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0" name="Google Shape;440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1" name="Google Shape;441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2" name="Google Shape;452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mc:AlternateContent>
    <mc:Choice Requires="p14">
      <p:transition spd="slow" p14:dur="11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"/>
          <p:cNvSpPr txBox="1"/>
          <p:nvPr>
            <p:ph type="title"/>
          </p:nvPr>
        </p:nvSpPr>
        <p:spPr>
          <a:xfrm>
            <a:off x="217825" y="225075"/>
            <a:ext cx="6089700" cy="15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Lora"/>
                <a:ea typeface="Lora"/>
                <a:cs typeface="Lora"/>
                <a:sym typeface="Lora"/>
              </a:rPr>
              <a:t>Welcome to our Presentation</a:t>
            </a:r>
            <a:endParaRPr b="1">
              <a:solidFill>
                <a:srgbClr val="0B539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60" name="Google Shape;460;p51"/>
          <p:cNvSpPr txBox="1"/>
          <p:nvPr/>
        </p:nvSpPr>
        <p:spPr>
          <a:xfrm>
            <a:off x="857850" y="1712175"/>
            <a:ext cx="46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45F0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Visualization  Associate Internship</a:t>
            </a:r>
            <a:endParaRPr b="1" sz="1800">
              <a:solidFill>
                <a:srgbClr val="B45F0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1" name="Google Shape;461;p51"/>
          <p:cNvSpPr txBox="1"/>
          <p:nvPr/>
        </p:nvSpPr>
        <p:spPr>
          <a:xfrm>
            <a:off x="2319550" y="2173875"/>
            <a:ext cx="16050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8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 40</a:t>
            </a:r>
            <a:endParaRPr b="1" sz="1700">
              <a:solidFill>
                <a:srgbClr val="98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62" name="Google Shape;462;p51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200" y="2630403"/>
            <a:ext cx="3606000" cy="1714298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1"/>
          <p:cNvSpPr txBox="1"/>
          <p:nvPr/>
        </p:nvSpPr>
        <p:spPr>
          <a:xfrm>
            <a:off x="5184475" y="3374250"/>
            <a:ext cx="30000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12592"/>
                </a:solidFill>
                <a:latin typeface="Spectral"/>
                <a:ea typeface="Spectral"/>
                <a:cs typeface="Spectral"/>
                <a:sym typeface="Spectral"/>
              </a:rPr>
              <a:t>Sumaiya Tasnim</a:t>
            </a:r>
            <a:r>
              <a:rPr b="1" lang="en" sz="1200">
                <a:latin typeface="Spectral"/>
                <a:ea typeface="Spectral"/>
                <a:cs typeface="Spectral"/>
                <a:sym typeface="Spectral"/>
              </a:rPr>
              <a:t> – </a:t>
            </a:r>
            <a:r>
              <a:rPr b="1" lang="en" sz="1200">
                <a:solidFill>
                  <a:srgbClr val="980000"/>
                </a:solidFill>
                <a:latin typeface="Spectral"/>
                <a:ea typeface="Spectral"/>
                <a:cs typeface="Spectral"/>
                <a:sym typeface="Spectral"/>
              </a:rPr>
              <a:t>Project Scribe </a:t>
            </a:r>
            <a:r>
              <a:rPr b="1" lang="en" sz="1200">
                <a:latin typeface="Spectral"/>
                <a:ea typeface="Spectral"/>
                <a:cs typeface="Spectral"/>
                <a:sym typeface="Spectral"/>
              </a:rPr>
              <a:t>– </a:t>
            </a:r>
            <a:r>
              <a:rPr b="1" lang="en" sz="1200">
                <a:solidFill>
                  <a:srgbClr val="0B5394"/>
                </a:solidFill>
                <a:latin typeface="Spectral"/>
                <a:ea typeface="Spectral"/>
                <a:cs typeface="Spectral"/>
                <a:sym typeface="Spectral"/>
              </a:rPr>
              <a:t>sumaiyaa.tasnim.18@gmail.com</a:t>
            </a:r>
            <a:endParaRPr b="1" sz="1200">
              <a:solidFill>
                <a:srgbClr val="0B5394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218980"/>
                </a:solidFill>
                <a:latin typeface="Spectral"/>
                <a:ea typeface="Spectral"/>
                <a:cs typeface="Spectral"/>
                <a:sym typeface="Spectral"/>
              </a:rPr>
              <a:t>Huzaifa Tariq</a:t>
            </a:r>
            <a:r>
              <a:rPr b="1" lang="en" sz="1200">
                <a:latin typeface="Spectral"/>
                <a:ea typeface="Spectral"/>
                <a:cs typeface="Spectral"/>
                <a:sym typeface="Spectral"/>
              </a:rPr>
              <a:t> – </a:t>
            </a:r>
            <a:r>
              <a:rPr b="1" lang="en" sz="1200">
                <a:solidFill>
                  <a:srgbClr val="980000"/>
                </a:solidFill>
                <a:latin typeface="Spectral"/>
                <a:ea typeface="Spectral"/>
                <a:cs typeface="Spectral"/>
                <a:sym typeface="Spectral"/>
              </a:rPr>
              <a:t>Project Manager</a:t>
            </a:r>
            <a:r>
              <a:rPr b="1" lang="en" sz="1200">
                <a:latin typeface="Spectral"/>
                <a:ea typeface="Spectral"/>
                <a:cs typeface="Spectral"/>
                <a:sym typeface="Spectral"/>
              </a:rPr>
              <a:t> – </a:t>
            </a:r>
            <a:r>
              <a:rPr b="1" lang="en" sz="1200">
                <a:solidFill>
                  <a:srgbClr val="0B5394"/>
                </a:solidFill>
                <a:latin typeface="Spectral"/>
                <a:ea typeface="Spectral"/>
                <a:cs typeface="Spectral"/>
                <a:sym typeface="Spectral"/>
              </a:rPr>
              <a:t>huzaifatariq757@gmail.com</a:t>
            </a:r>
            <a:endParaRPr b="1" sz="1200">
              <a:solidFill>
                <a:srgbClr val="0B5394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64" name="Google Shape;464;p51"/>
          <p:cNvSpPr/>
          <p:nvPr/>
        </p:nvSpPr>
        <p:spPr>
          <a:xfrm>
            <a:off x="4998850" y="3040950"/>
            <a:ext cx="3606000" cy="1827300"/>
          </a:xfrm>
          <a:prstGeom prst="frame">
            <a:avLst>
              <a:gd fmla="val 12500" name="adj1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5" name="Google Shape;465;p51"/>
          <p:cNvSpPr txBox="1"/>
          <p:nvPr/>
        </p:nvSpPr>
        <p:spPr>
          <a:xfrm>
            <a:off x="4920125" y="2630400"/>
            <a:ext cx="3449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B45F06"/>
                </a:solidFill>
                <a:latin typeface="Lexend"/>
                <a:ea typeface="Lexend"/>
                <a:cs typeface="Lexend"/>
                <a:sym typeface="Lexend"/>
              </a:rPr>
              <a:t>Team Members as Presentors :  </a:t>
            </a:r>
            <a:endParaRPr b="1" sz="1500">
              <a:solidFill>
                <a:srgbClr val="B45F0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2"/>
          <p:cNvSpPr txBox="1"/>
          <p:nvPr>
            <p:ph type="title"/>
          </p:nvPr>
        </p:nvSpPr>
        <p:spPr>
          <a:xfrm>
            <a:off x="291800" y="465200"/>
            <a:ext cx="56664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BF9000"/>
                </a:solidFill>
              </a:rPr>
              <a:t>Objectives</a:t>
            </a:r>
            <a:endParaRPr sz="3600">
              <a:solidFill>
                <a:srgbClr val="BF9000"/>
              </a:solidFill>
            </a:endParaRPr>
          </a:p>
        </p:txBody>
      </p:sp>
      <p:sp>
        <p:nvSpPr>
          <p:cNvPr id="471" name="Google Shape;471;p52"/>
          <p:cNvSpPr/>
          <p:nvPr/>
        </p:nvSpPr>
        <p:spPr>
          <a:xfrm>
            <a:off x="344250" y="1093025"/>
            <a:ext cx="4461000" cy="771000"/>
          </a:xfrm>
          <a:prstGeom prst="homePlate">
            <a:avLst>
              <a:gd fmla="val 50000" name="adj"/>
            </a:avLst>
          </a:prstGeom>
          <a:solidFill>
            <a:schemeClr val="accent3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Instrument Sans"/>
                <a:ea typeface="Instrument Sans"/>
                <a:cs typeface="Instrument Sans"/>
                <a:sym typeface="Instrument Sans"/>
              </a:rPr>
              <a:t>Week-1 :</a:t>
            </a: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 Set up ‘PostGreSQL’, Importing Datasets, Performing Exploratory Data Analysis &amp; Visualizations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2" name="Google Shape;472;p52"/>
          <p:cNvSpPr/>
          <p:nvPr/>
        </p:nvSpPr>
        <p:spPr>
          <a:xfrm>
            <a:off x="1216225" y="2020850"/>
            <a:ext cx="4524300" cy="720000"/>
          </a:xfrm>
          <a:prstGeom prst="homePlate">
            <a:avLst>
              <a:gd fmla="val 50000" name="adj"/>
            </a:avLst>
          </a:prstGeom>
          <a:solidFill>
            <a:schemeClr val="accent2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Instrument Sans"/>
                <a:ea typeface="Instrument Sans"/>
                <a:cs typeface="Instrument Sans"/>
                <a:sym typeface="Instrument Sans"/>
              </a:rPr>
              <a:t>Week-2:</a:t>
            </a: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 Master Table Creation, ETL process(Data Cleaning), Data Quality Verification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3" name="Google Shape;473;p52"/>
          <p:cNvSpPr/>
          <p:nvPr/>
        </p:nvSpPr>
        <p:spPr>
          <a:xfrm>
            <a:off x="2246700" y="2897675"/>
            <a:ext cx="4650600" cy="720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Instrument Sans"/>
                <a:ea typeface="Instrument Sans"/>
                <a:cs typeface="Instrument Sans"/>
                <a:sym typeface="Instrument Sans"/>
              </a:rPr>
              <a:t>Week-3:</a:t>
            </a: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 Mapping Table Creation, </a:t>
            </a: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Identification</a:t>
            </a: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 of Key Metrics, KPIs, Applied Business Logic, Designing Wireframe using ‘Figma’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4" name="Google Shape;474;p52"/>
          <p:cNvSpPr/>
          <p:nvPr/>
        </p:nvSpPr>
        <p:spPr>
          <a:xfrm>
            <a:off x="3185700" y="3774500"/>
            <a:ext cx="4524300" cy="720000"/>
          </a:xfrm>
          <a:prstGeom prst="homePlat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Instrument Sans"/>
                <a:ea typeface="Instrument Sans"/>
                <a:cs typeface="Instrument Sans"/>
                <a:sym typeface="Instrument Sans"/>
              </a:rPr>
              <a:t>Week-4:</a:t>
            </a: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 Connection of Database To Looker Studio, Final Dashboard Design &amp; Creation, Visual Storytelling, Final Presentation 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75" name="Google Shape;475;p52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6800" y="275"/>
            <a:ext cx="1205475" cy="57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ADC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3"/>
          <p:cNvSpPr/>
          <p:nvPr/>
        </p:nvSpPr>
        <p:spPr>
          <a:xfrm>
            <a:off x="364800" y="575850"/>
            <a:ext cx="2632500" cy="517200"/>
          </a:xfrm>
          <a:prstGeom prst="chevron">
            <a:avLst>
              <a:gd fmla="val 50000" name="adj"/>
            </a:avLst>
          </a:prstGeom>
          <a:solidFill>
            <a:srgbClr val="F9FBFD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Setup Of PostGreSQL, Imported Assigned </a:t>
            </a:r>
            <a:r>
              <a:rPr b="1" i="1" lang="en" sz="11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Datasets</a:t>
            </a:r>
            <a:endParaRPr b="1" i="1" sz="1100">
              <a:solidFill>
                <a:srgbClr val="0B5394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81" name="Google Shape;48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200" y="1863900"/>
            <a:ext cx="2759701" cy="263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4475" y="1557525"/>
            <a:ext cx="2759700" cy="31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3"/>
          <p:cNvSpPr/>
          <p:nvPr/>
        </p:nvSpPr>
        <p:spPr>
          <a:xfrm>
            <a:off x="3324475" y="575850"/>
            <a:ext cx="2816400" cy="517200"/>
          </a:xfrm>
          <a:prstGeom prst="chevron">
            <a:avLst>
              <a:gd fmla="val 50000" name="adj"/>
            </a:avLst>
          </a:prstGeom>
          <a:solidFill>
            <a:srgbClr val="F9FBFD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Performed Data Visualizations of each Datasets</a:t>
            </a:r>
            <a:endParaRPr b="1" sz="1100">
              <a:solidFill>
                <a:srgbClr val="0B5394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4" name="Google Shape;484;p53"/>
          <p:cNvSpPr/>
          <p:nvPr/>
        </p:nvSpPr>
        <p:spPr>
          <a:xfrm>
            <a:off x="6430450" y="575850"/>
            <a:ext cx="2426400" cy="517200"/>
          </a:xfrm>
          <a:prstGeom prst="chevron">
            <a:avLst>
              <a:gd fmla="val 50000" name="adj"/>
            </a:avLst>
          </a:prstGeom>
          <a:solidFill>
            <a:srgbClr val="F9FBFD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Performed Data Analysis</a:t>
            </a:r>
            <a:endParaRPr b="1" sz="1100">
              <a:solidFill>
                <a:srgbClr val="0B5394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of each Datasets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5" name="Google Shape;485;p53"/>
          <p:cNvSpPr/>
          <p:nvPr/>
        </p:nvSpPr>
        <p:spPr>
          <a:xfrm>
            <a:off x="6347750" y="1743538"/>
            <a:ext cx="2426400" cy="2875350"/>
          </a:xfrm>
          <a:prstGeom prst="flowChartProcess">
            <a:avLst/>
          </a:prstGeom>
          <a:solidFill>
            <a:srgbClr val="E3EDCC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AutoNum type="arabicPeriod"/>
            </a:pPr>
            <a:r>
              <a:rPr i="1" lang="en" sz="1200">
                <a:latin typeface="Lexend Medium"/>
                <a:ea typeface="Lexend Medium"/>
                <a:cs typeface="Lexend Medium"/>
                <a:sym typeface="Lexend Medium"/>
              </a:rPr>
              <a:t>Recognition of Datatypes</a:t>
            </a:r>
            <a:endParaRPr i="1" sz="12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AutoNum type="arabicPeriod"/>
            </a:pPr>
            <a:r>
              <a:rPr i="1" lang="en" sz="1200">
                <a:latin typeface="Lexend Medium"/>
                <a:ea typeface="Lexend Medium"/>
                <a:cs typeface="Lexend Medium"/>
                <a:sym typeface="Lexend Medium"/>
              </a:rPr>
              <a:t>Checking of Total Records &amp; Columns</a:t>
            </a:r>
            <a:endParaRPr i="1" sz="12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AutoNum type="arabicPeriod"/>
            </a:pPr>
            <a:r>
              <a:rPr i="1" lang="en" sz="1200">
                <a:latin typeface="Lexend Medium"/>
                <a:ea typeface="Lexend Medium"/>
                <a:cs typeface="Lexend Medium"/>
                <a:sym typeface="Lexend Medium"/>
              </a:rPr>
              <a:t>Verifying of Duplicate Values</a:t>
            </a:r>
            <a:endParaRPr i="1" sz="12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AutoNum type="arabicPeriod"/>
            </a:pPr>
            <a:r>
              <a:rPr i="1" lang="en" sz="1200">
                <a:latin typeface="Lexend Medium"/>
                <a:ea typeface="Lexend Medium"/>
                <a:cs typeface="Lexend Medium"/>
                <a:sym typeface="Lexend Medium"/>
              </a:rPr>
              <a:t>Null /Missing Values Detection</a:t>
            </a:r>
            <a:endParaRPr i="1" sz="12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AutoNum type="arabicPeriod"/>
            </a:pPr>
            <a:r>
              <a:rPr i="1" lang="en" sz="1200">
                <a:latin typeface="Lexend Medium"/>
                <a:ea typeface="Lexend Medium"/>
                <a:cs typeface="Lexend Medium"/>
                <a:sym typeface="Lexend Medium"/>
              </a:rPr>
              <a:t>Inconsistent Data Entries</a:t>
            </a:r>
            <a:endParaRPr i="1" sz="12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86" name="Google Shape;48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2424" y="1180700"/>
            <a:ext cx="817900" cy="5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3" title="SEO-logo-excelera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86800" y="275"/>
            <a:ext cx="1205475" cy="57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/>
          <p:nvPr/>
        </p:nvSpPr>
        <p:spPr>
          <a:xfrm>
            <a:off x="6126325" y="1115100"/>
            <a:ext cx="1367700" cy="1323600"/>
          </a:xfrm>
          <a:prstGeom prst="roundRect">
            <a:avLst>
              <a:gd fmla="val 10030" name="adj"/>
            </a:avLst>
          </a:prstGeom>
          <a:solidFill>
            <a:srgbClr val="EAD1DC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3" name="Google Shape;493;p54"/>
          <p:cNvSpPr/>
          <p:nvPr/>
        </p:nvSpPr>
        <p:spPr>
          <a:xfrm>
            <a:off x="7584400" y="1115100"/>
            <a:ext cx="1367700" cy="1323600"/>
          </a:xfrm>
          <a:prstGeom prst="roundRect">
            <a:avLst>
              <a:gd fmla="val 9786" name="adj"/>
            </a:avLst>
          </a:prstGeom>
          <a:solidFill>
            <a:srgbClr val="EAD1DC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4" name="Google Shape;494;p54"/>
          <p:cNvSpPr/>
          <p:nvPr/>
        </p:nvSpPr>
        <p:spPr>
          <a:xfrm>
            <a:off x="285125" y="1177438"/>
            <a:ext cx="1367700" cy="1241700"/>
          </a:xfrm>
          <a:prstGeom prst="roundRect">
            <a:avLst>
              <a:gd fmla="val 11349" name="adj"/>
            </a:avLst>
          </a:prstGeom>
          <a:solidFill>
            <a:srgbClr val="EAD1DC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5" name="Google Shape;495;p54"/>
          <p:cNvSpPr/>
          <p:nvPr/>
        </p:nvSpPr>
        <p:spPr>
          <a:xfrm>
            <a:off x="1724775" y="1177450"/>
            <a:ext cx="1367700" cy="1241700"/>
          </a:xfrm>
          <a:prstGeom prst="roundRect">
            <a:avLst>
              <a:gd fmla="val 10276" name="adj"/>
            </a:avLst>
          </a:prstGeom>
          <a:solidFill>
            <a:srgbClr val="EAD1DC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6" name="Google Shape;496;p54"/>
          <p:cNvSpPr/>
          <p:nvPr/>
        </p:nvSpPr>
        <p:spPr>
          <a:xfrm>
            <a:off x="3212250" y="1141500"/>
            <a:ext cx="1367700" cy="1297200"/>
          </a:xfrm>
          <a:prstGeom prst="roundRect">
            <a:avLst>
              <a:gd fmla="val 10030" name="adj"/>
            </a:avLst>
          </a:prstGeom>
          <a:solidFill>
            <a:srgbClr val="EAD1DC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7" name="Google Shape;497;p54"/>
          <p:cNvSpPr/>
          <p:nvPr/>
        </p:nvSpPr>
        <p:spPr>
          <a:xfrm>
            <a:off x="4668250" y="1115100"/>
            <a:ext cx="1367700" cy="1323600"/>
          </a:xfrm>
          <a:prstGeom prst="roundRect">
            <a:avLst>
              <a:gd fmla="val 9786" name="adj"/>
            </a:avLst>
          </a:prstGeom>
          <a:solidFill>
            <a:srgbClr val="EAD1DC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8" name="Google Shape;498;p54"/>
          <p:cNvSpPr txBox="1"/>
          <p:nvPr>
            <p:ph idx="1" type="body"/>
          </p:nvPr>
        </p:nvSpPr>
        <p:spPr>
          <a:xfrm>
            <a:off x="287225" y="1541625"/>
            <a:ext cx="1363500" cy="4032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User_data.csv</a:t>
            </a:r>
            <a:endParaRPr/>
          </a:p>
        </p:txBody>
      </p:sp>
      <p:sp>
        <p:nvSpPr>
          <p:cNvPr id="499" name="Google Shape;499;p54"/>
          <p:cNvSpPr txBox="1"/>
          <p:nvPr>
            <p:ph idx="2" type="body"/>
          </p:nvPr>
        </p:nvSpPr>
        <p:spPr>
          <a:xfrm>
            <a:off x="1658100" y="1501900"/>
            <a:ext cx="1551000" cy="5928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Opportunity_Raw.csv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4"/>
          <p:cNvSpPr txBox="1"/>
          <p:nvPr>
            <p:ph idx="3" type="body"/>
          </p:nvPr>
        </p:nvSpPr>
        <p:spPr>
          <a:xfrm>
            <a:off x="3214363" y="1596525"/>
            <a:ext cx="1363500" cy="7134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Cohort_Raw.csv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4"/>
          <p:cNvSpPr txBox="1"/>
          <p:nvPr>
            <p:ph idx="4" type="body"/>
          </p:nvPr>
        </p:nvSpPr>
        <p:spPr>
          <a:xfrm>
            <a:off x="4628325" y="1596525"/>
            <a:ext cx="1372500" cy="6465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Marketing_data.csv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54"/>
          <p:cNvSpPr txBox="1"/>
          <p:nvPr>
            <p:ph idx="5" type="body"/>
          </p:nvPr>
        </p:nvSpPr>
        <p:spPr>
          <a:xfrm>
            <a:off x="6063850" y="1440225"/>
            <a:ext cx="1363500" cy="5928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Learner_Opportunity_Raw.csv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4"/>
          <p:cNvSpPr txBox="1"/>
          <p:nvPr>
            <p:ph idx="6" type="body"/>
          </p:nvPr>
        </p:nvSpPr>
        <p:spPr>
          <a:xfrm>
            <a:off x="7490375" y="1440225"/>
            <a:ext cx="1496400" cy="498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Cognito_Raw.csv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4"/>
          <p:cNvSpPr txBox="1"/>
          <p:nvPr>
            <p:ph type="title"/>
          </p:nvPr>
        </p:nvSpPr>
        <p:spPr>
          <a:xfrm>
            <a:off x="292598" y="474750"/>
            <a:ext cx="27648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Assigned </a:t>
            </a:r>
            <a:r>
              <a:rPr b="1" lang="en">
                <a:solidFill>
                  <a:srgbClr val="98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Datasets</a:t>
            </a:r>
            <a:endParaRPr b="1">
              <a:solidFill>
                <a:srgbClr val="98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6" name="Google Shape;506;p54"/>
          <p:cNvSpPr txBox="1"/>
          <p:nvPr>
            <p:ph idx="9" type="subTitle"/>
          </p:nvPr>
        </p:nvSpPr>
        <p:spPr>
          <a:xfrm>
            <a:off x="281050" y="1283936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7" name="Google Shape;507;p54"/>
          <p:cNvSpPr txBox="1"/>
          <p:nvPr>
            <p:ph idx="13" type="subTitle"/>
          </p:nvPr>
        </p:nvSpPr>
        <p:spPr>
          <a:xfrm>
            <a:off x="1722738" y="1283936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8" name="Google Shape;508;p54"/>
          <p:cNvSpPr txBox="1"/>
          <p:nvPr>
            <p:ph idx="14" type="subTitle"/>
          </p:nvPr>
        </p:nvSpPr>
        <p:spPr>
          <a:xfrm>
            <a:off x="3195500" y="1177461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9" name="Google Shape;509;p54"/>
          <p:cNvSpPr txBox="1"/>
          <p:nvPr>
            <p:ph idx="15" type="subTitle"/>
          </p:nvPr>
        </p:nvSpPr>
        <p:spPr>
          <a:xfrm>
            <a:off x="4699725" y="1177461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10" name="Google Shape;510;p54"/>
          <p:cNvSpPr txBox="1"/>
          <p:nvPr>
            <p:ph idx="16" type="subTitle"/>
          </p:nvPr>
        </p:nvSpPr>
        <p:spPr>
          <a:xfrm>
            <a:off x="6203950" y="1177461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11" name="Google Shape;511;p54"/>
          <p:cNvSpPr txBox="1"/>
          <p:nvPr>
            <p:ph idx="17" type="subTitle"/>
          </p:nvPr>
        </p:nvSpPr>
        <p:spPr>
          <a:xfrm>
            <a:off x="7584400" y="1177461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12" name="Google Shape;512;p54"/>
          <p:cNvSpPr/>
          <p:nvPr/>
        </p:nvSpPr>
        <p:spPr>
          <a:xfrm>
            <a:off x="3427775" y="3176400"/>
            <a:ext cx="2413800" cy="1492200"/>
          </a:xfrm>
          <a:prstGeom prst="cube">
            <a:avLst>
              <a:gd fmla="val 25000" name="adj"/>
            </a:avLst>
          </a:prstGeom>
          <a:solidFill>
            <a:srgbClr val="FAEDEB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98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Master Table</a:t>
            </a:r>
            <a:endParaRPr b="1" sz="3000">
              <a:solidFill>
                <a:srgbClr val="98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13" name="Google Shape;513;p54"/>
          <p:cNvCxnSpPr>
            <a:stCxn id="494" idx="2"/>
            <a:endCxn id="512" idx="2"/>
          </p:cNvCxnSpPr>
          <p:nvPr/>
        </p:nvCxnSpPr>
        <p:spPr>
          <a:xfrm flipH="1" rot="-5400000">
            <a:off x="1353425" y="2034688"/>
            <a:ext cx="1689900" cy="2458800"/>
          </a:xfrm>
          <a:prstGeom prst="curvedConnector2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54"/>
          <p:cNvCxnSpPr>
            <a:stCxn id="495" idx="2"/>
            <a:endCxn id="512" idx="1"/>
          </p:cNvCxnSpPr>
          <p:nvPr/>
        </p:nvCxnSpPr>
        <p:spPr>
          <a:xfrm flipH="1" rot="-5400000">
            <a:off x="2863125" y="1964650"/>
            <a:ext cx="1130400" cy="2039400"/>
          </a:xfrm>
          <a:prstGeom prst="curvedConnector3">
            <a:avLst>
              <a:gd fmla="val 62677" name="adj1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54"/>
          <p:cNvCxnSpPr>
            <a:stCxn id="500" idx="2"/>
            <a:endCxn id="512" idx="0"/>
          </p:cNvCxnSpPr>
          <p:nvPr/>
        </p:nvCxnSpPr>
        <p:spPr>
          <a:xfrm flipH="1" rot="-5400000">
            <a:off x="3925513" y="2280525"/>
            <a:ext cx="866400" cy="9252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54"/>
          <p:cNvCxnSpPr>
            <a:stCxn id="492" idx="2"/>
            <a:endCxn id="512" idx="5"/>
          </p:cNvCxnSpPr>
          <p:nvPr/>
        </p:nvCxnSpPr>
        <p:spPr>
          <a:xfrm rot="5400000">
            <a:off x="5677225" y="2602950"/>
            <a:ext cx="1297200" cy="968700"/>
          </a:xfrm>
          <a:prstGeom prst="curvedConnector2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54"/>
          <p:cNvCxnSpPr>
            <a:stCxn id="493" idx="2"/>
            <a:endCxn id="512" idx="4"/>
          </p:cNvCxnSpPr>
          <p:nvPr/>
        </p:nvCxnSpPr>
        <p:spPr>
          <a:xfrm rot="5400000">
            <a:off x="6033250" y="1874100"/>
            <a:ext cx="1670400" cy="2799600"/>
          </a:xfrm>
          <a:prstGeom prst="curvedConnector2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8" name="Google Shape;518;p54"/>
          <p:cNvSpPr txBox="1"/>
          <p:nvPr/>
        </p:nvSpPr>
        <p:spPr>
          <a:xfrm>
            <a:off x="4512075" y="2355413"/>
            <a:ext cx="177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3434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(Not Connected To Master Table- Standalone)</a:t>
            </a:r>
            <a:endParaRPr i="1" sz="1000">
              <a:solidFill>
                <a:srgbClr val="43434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19" name="Google Shape;519;p54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200" y="152675"/>
            <a:ext cx="1205475" cy="57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F4E8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5"/>
          <p:cNvSpPr/>
          <p:nvPr/>
        </p:nvSpPr>
        <p:spPr>
          <a:xfrm>
            <a:off x="3415725" y="185625"/>
            <a:ext cx="2451300" cy="983100"/>
          </a:xfrm>
          <a:prstGeom prst="cube">
            <a:avLst>
              <a:gd fmla="val 25000" name="adj"/>
            </a:avLst>
          </a:prstGeom>
          <a:solidFill>
            <a:srgbClr val="FAEDEB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Master Table</a:t>
            </a:r>
            <a:endParaRPr b="1" sz="2200">
              <a:solidFill>
                <a:srgbClr val="98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5" name="Google Shape;525;p55"/>
          <p:cNvSpPr/>
          <p:nvPr/>
        </p:nvSpPr>
        <p:spPr>
          <a:xfrm>
            <a:off x="3775875" y="1440225"/>
            <a:ext cx="1731000" cy="1344000"/>
          </a:xfrm>
          <a:prstGeom prst="can">
            <a:avLst>
              <a:gd fmla="val 25000" name="adj"/>
            </a:avLst>
          </a:prstGeom>
          <a:solidFill>
            <a:srgbClr val="DCF7FA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Extract, Transformation &amp; Load</a:t>
            </a:r>
            <a:endParaRPr b="1">
              <a:solidFill>
                <a:srgbClr val="3D85C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(ETL Process)</a:t>
            </a:r>
            <a:endParaRPr b="1">
              <a:solidFill>
                <a:srgbClr val="3D85C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6" name="Google Shape;526;p55"/>
          <p:cNvSpPr/>
          <p:nvPr/>
        </p:nvSpPr>
        <p:spPr>
          <a:xfrm>
            <a:off x="653225" y="1662675"/>
            <a:ext cx="1971600" cy="809700"/>
          </a:xfrm>
          <a:prstGeom prst="roundRect">
            <a:avLst>
              <a:gd fmla="val 16667" name="adj"/>
            </a:avLst>
          </a:prstGeom>
          <a:solidFill>
            <a:srgbClr val="F9EADC"/>
          </a:solidFill>
          <a:ln cap="flat" cmpd="sng" w="9525">
            <a:solidFill>
              <a:srgbClr val="014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Conversion of all Column’s correct Datatypes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7" name="Google Shape;527;p55"/>
          <p:cNvSpPr/>
          <p:nvPr/>
        </p:nvSpPr>
        <p:spPr>
          <a:xfrm>
            <a:off x="902925" y="3181275"/>
            <a:ext cx="2512800" cy="809700"/>
          </a:xfrm>
          <a:prstGeom prst="roundRect">
            <a:avLst>
              <a:gd fmla="val 16667" name="adj"/>
            </a:avLst>
          </a:prstGeom>
          <a:solidFill>
            <a:srgbClr val="F9EADC"/>
          </a:solidFill>
          <a:ln cap="flat" cmpd="sng" w="9525">
            <a:solidFill>
              <a:srgbClr val="014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Missing/NULL values were replaced with “Unknown” value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8" name="Google Shape;528;p55"/>
          <p:cNvSpPr/>
          <p:nvPr/>
        </p:nvSpPr>
        <p:spPr>
          <a:xfrm>
            <a:off x="3606975" y="3928725"/>
            <a:ext cx="2206200" cy="809700"/>
          </a:xfrm>
          <a:prstGeom prst="roundRect">
            <a:avLst>
              <a:gd fmla="val 16667" name="adj"/>
            </a:avLst>
          </a:prstGeom>
          <a:solidFill>
            <a:srgbClr val="F9EADC"/>
          </a:solidFill>
          <a:ln cap="flat" cmpd="sng" w="9525">
            <a:solidFill>
              <a:srgbClr val="014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Duplicate Records were detected &amp; removed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9" name="Google Shape;529;p55"/>
          <p:cNvSpPr/>
          <p:nvPr/>
        </p:nvSpPr>
        <p:spPr>
          <a:xfrm>
            <a:off x="6039475" y="3243525"/>
            <a:ext cx="2451300" cy="685200"/>
          </a:xfrm>
          <a:prstGeom prst="roundRect">
            <a:avLst>
              <a:gd fmla="val 16667" name="adj"/>
            </a:avLst>
          </a:prstGeom>
          <a:solidFill>
            <a:srgbClr val="F9EADC"/>
          </a:solidFill>
          <a:ln cap="flat" cmpd="sng" w="9525">
            <a:solidFill>
              <a:srgbClr val="014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URLs/inconsistent  entries were replaced with “Unknown” value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0" name="Google Shape;530;p55"/>
          <p:cNvSpPr/>
          <p:nvPr/>
        </p:nvSpPr>
        <p:spPr>
          <a:xfrm>
            <a:off x="6561950" y="1824300"/>
            <a:ext cx="2034600" cy="685200"/>
          </a:xfrm>
          <a:prstGeom prst="roundRect">
            <a:avLst>
              <a:gd fmla="val 16667" name="adj"/>
            </a:avLst>
          </a:prstGeom>
          <a:solidFill>
            <a:srgbClr val="F9EADC"/>
          </a:solidFill>
          <a:ln cap="flat" cmpd="sng" w="9525">
            <a:solidFill>
              <a:srgbClr val="014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Ensured join keys exist for Relationships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1" name="Google Shape;531;p55"/>
          <p:cNvSpPr/>
          <p:nvPr/>
        </p:nvSpPr>
        <p:spPr>
          <a:xfrm>
            <a:off x="2756325" y="2002900"/>
            <a:ext cx="850800" cy="227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2" name="Google Shape;532;p55"/>
          <p:cNvSpPr/>
          <p:nvPr/>
        </p:nvSpPr>
        <p:spPr>
          <a:xfrm rot="-2252253">
            <a:off x="3278274" y="2845385"/>
            <a:ext cx="607601" cy="237677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3" name="Google Shape;533;p55"/>
          <p:cNvSpPr/>
          <p:nvPr/>
        </p:nvSpPr>
        <p:spPr>
          <a:xfrm rot="-5402259">
            <a:off x="4184919" y="3167024"/>
            <a:ext cx="912900" cy="227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4" name="Google Shape;534;p55"/>
          <p:cNvSpPr/>
          <p:nvPr/>
        </p:nvSpPr>
        <p:spPr>
          <a:xfrm rot="10800000">
            <a:off x="5609013" y="2002900"/>
            <a:ext cx="850800" cy="227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5" name="Google Shape;535;p55"/>
          <p:cNvSpPr/>
          <p:nvPr/>
        </p:nvSpPr>
        <p:spPr>
          <a:xfrm rot="-8556619">
            <a:off x="5568182" y="2784776"/>
            <a:ext cx="615085" cy="23544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6" name="Google Shape;536;p55"/>
          <p:cNvSpPr/>
          <p:nvPr/>
        </p:nvSpPr>
        <p:spPr>
          <a:xfrm flipH="1" rot="5255148">
            <a:off x="4515566" y="1190587"/>
            <a:ext cx="227902" cy="227603"/>
          </a:xfrm>
          <a:prstGeom prst="leftArrow">
            <a:avLst>
              <a:gd fmla="val 50000" name="adj1"/>
              <a:gd fmla="val 61552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37" name="Google Shape;537;p55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6800" y="275"/>
            <a:ext cx="1205475" cy="57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8F6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6"/>
          <p:cNvSpPr/>
          <p:nvPr/>
        </p:nvSpPr>
        <p:spPr>
          <a:xfrm>
            <a:off x="2803050" y="64950"/>
            <a:ext cx="3537900" cy="819600"/>
          </a:xfrm>
          <a:prstGeom prst="cube">
            <a:avLst>
              <a:gd fmla="val 25000" name="adj"/>
            </a:avLst>
          </a:prstGeom>
          <a:solidFill>
            <a:srgbClr val="DCF7FA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Cleaned </a:t>
            </a:r>
            <a:r>
              <a:rPr b="1" lang="en" sz="22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Master Table</a:t>
            </a:r>
            <a:endParaRPr b="1" sz="2200">
              <a:solidFill>
                <a:srgbClr val="0B5394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3" name="Google Shape;543;p56"/>
          <p:cNvSpPr/>
          <p:nvPr/>
        </p:nvSpPr>
        <p:spPr>
          <a:xfrm>
            <a:off x="3772725" y="1147725"/>
            <a:ext cx="1478700" cy="819600"/>
          </a:xfrm>
          <a:prstGeom prst="foldedCorner">
            <a:avLst>
              <a:gd fmla="val 16667" name="adj"/>
            </a:avLst>
          </a:prstGeom>
          <a:solidFill>
            <a:srgbClr val="F9EADC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45F0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Mapping Table Walkthrough</a:t>
            </a:r>
            <a:endParaRPr b="1">
              <a:solidFill>
                <a:srgbClr val="B45F0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4" name="Google Shape;544;p56"/>
          <p:cNvSpPr/>
          <p:nvPr/>
        </p:nvSpPr>
        <p:spPr>
          <a:xfrm>
            <a:off x="145675" y="3529875"/>
            <a:ext cx="3184800" cy="347100"/>
          </a:xfrm>
          <a:prstGeom prst="homePlate">
            <a:avLst>
              <a:gd fmla="val 50000" name="adj"/>
            </a:avLst>
          </a:prstGeom>
          <a:solidFill>
            <a:srgbClr val="F5F7E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Key Performance Indicator (KPIs)</a:t>
            </a:r>
            <a:endParaRPr b="1">
              <a:solidFill>
                <a:srgbClr val="38761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5" name="Google Shape;545;p56"/>
          <p:cNvSpPr/>
          <p:nvPr/>
        </p:nvSpPr>
        <p:spPr>
          <a:xfrm>
            <a:off x="3330473" y="3529875"/>
            <a:ext cx="2425500" cy="347100"/>
          </a:xfrm>
          <a:prstGeom prst="homePlate">
            <a:avLst>
              <a:gd fmla="val 50000" name="adj"/>
            </a:avLst>
          </a:prstGeom>
          <a:solidFill>
            <a:srgbClr val="F5F7E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Metrics (Formulas)</a:t>
            </a:r>
            <a:endParaRPr b="1">
              <a:solidFill>
                <a:srgbClr val="38761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6" name="Google Shape;546;p56"/>
          <p:cNvSpPr/>
          <p:nvPr/>
        </p:nvSpPr>
        <p:spPr>
          <a:xfrm>
            <a:off x="5755975" y="3529875"/>
            <a:ext cx="3184800" cy="347100"/>
          </a:xfrm>
          <a:prstGeom prst="homePlate">
            <a:avLst>
              <a:gd fmla="val 50000" name="adj"/>
            </a:avLst>
          </a:prstGeom>
          <a:solidFill>
            <a:srgbClr val="F5F7E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Filters &amp; Drill-Down Controls</a:t>
            </a:r>
            <a:endParaRPr b="1">
              <a:solidFill>
                <a:srgbClr val="38761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7" name="Google Shape;547;p56"/>
          <p:cNvSpPr/>
          <p:nvPr/>
        </p:nvSpPr>
        <p:spPr>
          <a:xfrm flipH="1" rot="5256274">
            <a:off x="4362943" y="926278"/>
            <a:ext cx="301463" cy="227603"/>
          </a:xfrm>
          <a:prstGeom prst="leftArrow">
            <a:avLst>
              <a:gd fmla="val 50000" name="adj1"/>
              <a:gd fmla="val 61552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8" name="Google Shape;548;p56"/>
          <p:cNvSpPr/>
          <p:nvPr/>
        </p:nvSpPr>
        <p:spPr>
          <a:xfrm rot="5400000">
            <a:off x="3908700" y="2461263"/>
            <a:ext cx="1326600" cy="5007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AEDEB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741B4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Identified</a:t>
            </a:r>
            <a:endParaRPr b="1" i="1">
              <a:solidFill>
                <a:srgbClr val="741B47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9" name="Google Shape;549;p56"/>
          <p:cNvSpPr/>
          <p:nvPr/>
        </p:nvSpPr>
        <p:spPr>
          <a:xfrm>
            <a:off x="2368825" y="4341425"/>
            <a:ext cx="4521312" cy="335718"/>
          </a:xfrm>
          <a:prstGeom prst="flowChartTerminator">
            <a:avLst/>
          </a:prstGeom>
          <a:solidFill>
            <a:srgbClr val="FAEDEB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98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WireFrame Creation - A draft of Dashboard</a:t>
            </a:r>
            <a:endParaRPr b="1" i="1">
              <a:solidFill>
                <a:srgbClr val="98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0" name="Google Shape;550;p56"/>
          <p:cNvSpPr/>
          <p:nvPr/>
        </p:nvSpPr>
        <p:spPr>
          <a:xfrm flipH="1" rot="5256178">
            <a:off x="4393912" y="4018640"/>
            <a:ext cx="322782" cy="309881"/>
          </a:xfrm>
          <a:prstGeom prst="leftArrow">
            <a:avLst>
              <a:gd fmla="val 50000" name="adj1"/>
              <a:gd fmla="val 61552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51" name="Google Shape;551;p56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6800" y="275"/>
            <a:ext cx="1205475" cy="57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7"/>
          <p:cNvSpPr txBox="1"/>
          <p:nvPr/>
        </p:nvSpPr>
        <p:spPr>
          <a:xfrm>
            <a:off x="1058700" y="123000"/>
            <a:ext cx="3311100" cy="628800"/>
          </a:xfrm>
          <a:prstGeom prst="rect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Mapping Table Concept</a:t>
            </a:r>
            <a:endParaRPr b="1" sz="1800">
              <a:solidFill>
                <a:srgbClr val="0B5394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6666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(Chosen the Priority ones)</a:t>
            </a:r>
            <a:endParaRPr b="1" sz="1800">
              <a:solidFill>
                <a:srgbClr val="0B5394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57" name="Google Shape;557;p57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0000" y="4509050"/>
            <a:ext cx="1205475" cy="57184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7"/>
          <p:cNvSpPr/>
          <p:nvPr/>
        </p:nvSpPr>
        <p:spPr>
          <a:xfrm>
            <a:off x="101425" y="1070900"/>
            <a:ext cx="2670600" cy="995400"/>
          </a:xfrm>
          <a:prstGeom prst="ellipse">
            <a:avLst/>
          </a:prstGeom>
          <a:solidFill>
            <a:srgbClr val="D0E0E3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KPI:</a:t>
            </a:r>
            <a:r>
              <a:rPr b="1" lang="en" sz="1100"/>
              <a:t> </a:t>
            </a:r>
            <a:r>
              <a:rPr lang="en" sz="1100"/>
              <a:t>Total Applications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761D"/>
                </a:solidFill>
              </a:rPr>
              <a:t>Filter:</a:t>
            </a:r>
            <a:r>
              <a:rPr lang="en" sz="1100"/>
              <a:t> Opportunity Category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41B47"/>
                </a:solidFill>
              </a:rPr>
              <a:t>Purpose:</a:t>
            </a:r>
            <a:r>
              <a:rPr lang="en" sz="1100"/>
              <a:t> Measure overall application volume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9" name="Google Shape;559;p57"/>
          <p:cNvSpPr/>
          <p:nvPr/>
        </p:nvSpPr>
        <p:spPr>
          <a:xfrm>
            <a:off x="101425" y="2310700"/>
            <a:ext cx="2542800" cy="995400"/>
          </a:xfrm>
          <a:prstGeom prst="ellipse">
            <a:avLst/>
          </a:prstGeom>
          <a:solidFill>
            <a:srgbClr val="D0E0E3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KPI:</a:t>
            </a:r>
            <a:r>
              <a:rPr lang="en" sz="1100"/>
              <a:t> Unique Learners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761D"/>
                </a:solidFill>
              </a:rPr>
              <a:t>Filter:</a:t>
            </a:r>
            <a:r>
              <a:rPr lang="en" sz="1100"/>
              <a:t> Status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41B47"/>
                </a:solidFill>
              </a:rPr>
              <a:t>Purpose:</a:t>
            </a:r>
            <a:r>
              <a:rPr lang="en" sz="1100">
                <a:solidFill>
                  <a:srgbClr val="741B47"/>
                </a:solidFill>
              </a:rPr>
              <a:t> </a:t>
            </a:r>
            <a:r>
              <a:rPr lang="en" sz="1100"/>
              <a:t>Track individual applicants and avoid duplicates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0" name="Google Shape;560;p57"/>
          <p:cNvSpPr/>
          <p:nvPr/>
        </p:nvSpPr>
        <p:spPr>
          <a:xfrm>
            <a:off x="2787625" y="2242600"/>
            <a:ext cx="2670600" cy="1131600"/>
          </a:xfrm>
          <a:prstGeom prst="ellipse">
            <a:avLst/>
          </a:prstGeom>
          <a:solidFill>
            <a:srgbClr val="D0E0E3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KPI:</a:t>
            </a:r>
            <a:r>
              <a:rPr lang="en" sz="1100">
                <a:solidFill>
                  <a:srgbClr val="B45F06"/>
                </a:solidFill>
              </a:rPr>
              <a:t> </a:t>
            </a:r>
            <a:r>
              <a:rPr lang="en" sz="1100"/>
              <a:t>Enrollment Rate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761D"/>
                </a:solidFill>
              </a:rPr>
              <a:t>Filter:</a:t>
            </a:r>
            <a:r>
              <a:rPr lang="en" sz="1100"/>
              <a:t> Gender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41B47"/>
                </a:solidFill>
              </a:rPr>
              <a:t>Purpose:</a:t>
            </a:r>
            <a:r>
              <a:rPr lang="en" sz="1100">
                <a:solidFill>
                  <a:srgbClr val="741B47"/>
                </a:solidFill>
              </a:rPr>
              <a:t> </a:t>
            </a:r>
            <a:r>
              <a:rPr lang="en" sz="1100"/>
              <a:t>Evaluate conversion from applications to enrollments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1" name="Google Shape;561;p57"/>
          <p:cNvSpPr/>
          <p:nvPr/>
        </p:nvSpPr>
        <p:spPr>
          <a:xfrm>
            <a:off x="2891875" y="3586125"/>
            <a:ext cx="2542800" cy="1131600"/>
          </a:xfrm>
          <a:prstGeom prst="ellipse">
            <a:avLst/>
          </a:prstGeom>
          <a:solidFill>
            <a:srgbClr val="D0E0E3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KPI:</a:t>
            </a:r>
            <a:r>
              <a:rPr b="1" lang="en" sz="1100"/>
              <a:t> </a:t>
            </a:r>
            <a:r>
              <a:rPr lang="en" sz="1100"/>
              <a:t>Application Velocity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761D"/>
                </a:solidFill>
              </a:rPr>
              <a:t>Filter:</a:t>
            </a:r>
            <a:r>
              <a:rPr lang="en" sz="1100"/>
              <a:t> Learner ID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41B47"/>
                </a:solidFill>
              </a:rPr>
              <a:t>Purpose:</a:t>
            </a:r>
            <a:r>
              <a:rPr lang="en" sz="1100"/>
              <a:t> Measure speed of incoming applications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2" name="Google Shape;562;p57"/>
          <p:cNvSpPr/>
          <p:nvPr/>
        </p:nvSpPr>
        <p:spPr>
          <a:xfrm>
            <a:off x="141775" y="3550500"/>
            <a:ext cx="2462100" cy="1131600"/>
          </a:xfrm>
          <a:prstGeom prst="ellipse">
            <a:avLst/>
          </a:prstGeom>
          <a:solidFill>
            <a:srgbClr val="D0E0E3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KPI: </a:t>
            </a:r>
            <a:r>
              <a:rPr lang="en" sz="1100"/>
              <a:t>Cohort Capacity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761D"/>
                </a:solidFill>
              </a:rPr>
              <a:t>Filter:</a:t>
            </a:r>
            <a:r>
              <a:rPr lang="en" sz="1100"/>
              <a:t> Country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41B47"/>
                </a:solidFill>
              </a:rPr>
              <a:t>Purpose:</a:t>
            </a:r>
            <a:r>
              <a:rPr lang="en" sz="1100"/>
              <a:t> Understand total seats available per cohort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3" name="Google Shape;563;p57"/>
          <p:cNvSpPr/>
          <p:nvPr/>
        </p:nvSpPr>
        <p:spPr>
          <a:xfrm>
            <a:off x="2891875" y="1095000"/>
            <a:ext cx="2462100" cy="995400"/>
          </a:xfrm>
          <a:prstGeom prst="ellipse">
            <a:avLst/>
          </a:prstGeom>
          <a:solidFill>
            <a:srgbClr val="D0E0E3"/>
          </a:solidFill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KPI:</a:t>
            </a:r>
            <a:r>
              <a:rPr b="1" lang="en" sz="1100"/>
              <a:t> </a:t>
            </a:r>
            <a:r>
              <a:rPr lang="en" sz="1100"/>
              <a:t>Remaining Seats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761D"/>
                </a:solidFill>
              </a:rPr>
              <a:t>Filter:</a:t>
            </a:r>
            <a:r>
              <a:rPr lang="en" sz="1100"/>
              <a:t> Date Range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41B47"/>
                </a:solidFill>
              </a:rPr>
              <a:t>Purpose:</a:t>
            </a:r>
            <a:r>
              <a:rPr lang="en" sz="1100"/>
              <a:t> Monitor available capacity and prevent overflow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4" name="Google Shape;564;p57"/>
          <p:cNvSpPr txBox="1"/>
          <p:nvPr/>
        </p:nvSpPr>
        <p:spPr>
          <a:xfrm>
            <a:off x="5253550" y="123000"/>
            <a:ext cx="3603300" cy="6921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41B4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Required And Included Dashboard Charts</a:t>
            </a:r>
            <a:endParaRPr b="1" sz="1800">
              <a:solidFill>
                <a:srgbClr val="741B47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5" name="Google Shape;565;p57"/>
          <p:cNvSpPr/>
          <p:nvPr/>
        </p:nvSpPr>
        <p:spPr>
          <a:xfrm>
            <a:off x="5568575" y="953975"/>
            <a:ext cx="3223800" cy="3627000"/>
          </a:xfrm>
          <a:prstGeom prst="verticalScroll">
            <a:avLst>
              <a:gd fmla="val 12500" name="adj"/>
            </a:avLst>
          </a:prstGeom>
          <a:solidFill>
            <a:srgbClr val="F9E8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Bar Chart</a:t>
            </a:r>
            <a:endParaRPr b="1" sz="11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51C75"/>
                </a:solidFill>
              </a:rPr>
              <a:t>Chart Name:</a:t>
            </a:r>
            <a:r>
              <a:rPr lang="en" sz="1100"/>
              <a:t> Applications per Opportunity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Row Chart</a:t>
            </a:r>
            <a:endParaRPr b="1" sz="11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51C75"/>
                </a:solidFill>
              </a:rPr>
              <a:t>Chart Name:</a:t>
            </a:r>
            <a:r>
              <a:rPr lang="en" sz="1100"/>
              <a:t> Total Applications of Each Country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45F06"/>
                </a:solidFill>
              </a:rPr>
              <a:t>Donut Chart</a:t>
            </a:r>
            <a:endParaRPr b="1" sz="11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51C75"/>
                </a:solidFill>
              </a:rPr>
              <a:t>Chart Name:</a:t>
            </a:r>
            <a:r>
              <a:rPr lang="en" sz="1100">
                <a:solidFill>
                  <a:srgbClr val="351C75"/>
                </a:solidFill>
              </a:rPr>
              <a:t> </a:t>
            </a:r>
            <a:r>
              <a:rPr lang="en" sz="1100"/>
              <a:t>Unique Learners per Opportunity Category</a:t>
            </a:r>
            <a:br>
              <a:rPr lang="en" sz="1100"/>
            </a:br>
            <a:r>
              <a:rPr b="1" lang="en" sz="1100">
                <a:solidFill>
                  <a:srgbClr val="B45F06"/>
                </a:solidFill>
              </a:rPr>
              <a:t>Pie Chart</a:t>
            </a:r>
            <a:endParaRPr b="1" sz="11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51C75"/>
                </a:solidFill>
              </a:rPr>
              <a:t>Chart Name:</a:t>
            </a:r>
            <a:r>
              <a:rPr lang="en" sz="1100"/>
              <a:t> Distribution of Application by Gender</a:t>
            </a:r>
            <a:br>
              <a:rPr lang="en" sz="1100"/>
            </a:br>
            <a:r>
              <a:rPr b="1" lang="en" sz="1100">
                <a:solidFill>
                  <a:srgbClr val="B45F06"/>
                </a:solidFill>
              </a:rPr>
              <a:t>Donut Chart</a:t>
            </a:r>
            <a:endParaRPr b="1" sz="11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51C75"/>
                </a:solidFill>
              </a:rPr>
              <a:t>Chart Name:</a:t>
            </a:r>
            <a:r>
              <a:rPr lang="en" sz="1100"/>
              <a:t> Status by Email</a:t>
            </a:r>
            <a:br>
              <a:rPr lang="en" sz="1100"/>
            </a:br>
            <a:r>
              <a:rPr b="1" lang="en" sz="1100">
                <a:solidFill>
                  <a:srgbClr val="B45F06"/>
                </a:solidFill>
              </a:rPr>
              <a:t>Line Chart</a:t>
            </a:r>
            <a:endParaRPr b="1" sz="11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51C75"/>
                </a:solidFill>
              </a:rPr>
              <a:t>Chart Name:</a:t>
            </a:r>
            <a:r>
              <a:rPr lang="en" sz="1100">
                <a:solidFill>
                  <a:srgbClr val="351C75"/>
                </a:solidFill>
              </a:rPr>
              <a:t> </a:t>
            </a:r>
            <a:r>
              <a:rPr lang="en" sz="1100"/>
              <a:t>Cohort Enrollment Over Time</a:t>
            </a:r>
            <a:br>
              <a:rPr lang="en" sz="1100"/>
            </a:br>
            <a:r>
              <a:rPr b="1" lang="en" sz="1100">
                <a:solidFill>
                  <a:srgbClr val="B45F06"/>
                </a:solidFill>
              </a:rPr>
              <a:t>Heatmap</a:t>
            </a:r>
            <a:endParaRPr b="1" sz="11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51C75"/>
                </a:solidFill>
              </a:rPr>
              <a:t>Chart Name:</a:t>
            </a:r>
            <a:r>
              <a:rPr lang="en" sz="1100">
                <a:solidFill>
                  <a:srgbClr val="351C75"/>
                </a:solidFill>
              </a:rPr>
              <a:t> </a:t>
            </a:r>
            <a:r>
              <a:rPr lang="en" sz="1100"/>
              <a:t>Enrollment Rate by Country vs. Opportunity Category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1138"/>
            <a:ext cx="8839201" cy="1991012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8"/>
          <p:cNvSpPr txBox="1"/>
          <p:nvPr/>
        </p:nvSpPr>
        <p:spPr>
          <a:xfrm>
            <a:off x="432700" y="132650"/>
            <a:ext cx="8037600" cy="568500"/>
          </a:xfrm>
          <a:prstGeom prst="rect">
            <a:avLst/>
          </a:prstGeom>
          <a:noFill/>
          <a:ln cap="flat" cmpd="sng" w="9525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45F0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Viewing The Master Table’s Dashboard in Looker Studio (Step By Step)</a:t>
            </a:r>
            <a:endParaRPr b="1" sz="1800">
              <a:solidFill>
                <a:srgbClr val="B45F0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2" name="Google Shape;572;p58"/>
          <p:cNvSpPr txBox="1"/>
          <p:nvPr/>
        </p:nvSpPr>
        <p:spPr>
          <a:xfrm>
            <a:off x="2572275" y="777000"/>
            <a:ext cx="3879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Filters &amp; KPIs In Dashboard</a:t>
            </a:r>
            <a:endParaRPr b="1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3" name="Google Shape;573;p58"/>
          <p:cNvSpPr/>
          <p:nvPr/>
        </p:nvSpPr>
        <p:spPr>
          <a:xfrm>
            <a:off x="1683825" y="3241400"/>
            <a:ext cx="5510100" cy="1902000"/>
          </a:xfrm>
          <a:prstGeom prst="horizontalScroll">
            <a:avLst>
              <a:gd fmla="val 12500" name="adj"/>
            </a:avLst>
          </a:prstGeom>
          <a:solidFill>
            <a:srgbClr val="FFF6E5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819D"/>
                </a:solidFill>
              </a:rPr>
              <a:t>Filters &amp; KPIs Purpose in Dashboard:</a:t>
            </a:r>
            <a:endParaRPr b="1" sz="1100">
              <a:solidFill>
                <a:srgbClr val="1181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Enable focused analysis by category, status, gender, country, and date.</a:t>
            </a:r>
            <a:br>
              <a:rPr lang="en" sz="1100"/>
            </a:br>
            <a:r>
              <a:rPr lang="en" sz="1100"/>
              <a:t>Track key performance metrics like applications, enrollments, and remaining seats.</a:t>
            </a:r>
            <a:br>
              <a:rPr lang="en" sz="1100"/>
            </a:br>
            <a:r>
              <a:rPr lang="en" sz="1100"/>
              <a:t>Support trend monitoring and conversion insights.</a:t>
            </a:r>
            <a:br>
              <a:rPr lang="en" sz="1100"/>
            </a:br>
            <a:r>
              <a:rPr lang="en" sz="1100"/>
              <a:t>Facilitate quick decision-making and resource planning.</a:t>
            </a:r>
            <a:endParaRPr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74" name="Google Shape;574;p58" title="SEO-logo-excelera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5550" y="4668606"/>
            <a:ext cx="1114500" cy="52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63" y="562100"/>
            <a:ext cx="4309224" cy="256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9"/>
          <p:cNvSpPr txBox="1"/>
          <p:nvPr/>
        </p:nvSpPr>
        <p:spPr>
          <a:xfrm>
            <a:off x="1183350" y="119900"/>
            <a:ext cx="23127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Bar Chart Visualization</a:t>
            </a:r>
            <a:endParaRPr b="1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81" name="Google Shape;581;p59" title="SEO-logo-excelera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5550" y="4668606"/>
            <a:ext cx="1114500" cy="52869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59"/>
          <p:cNvSpPr/>
          <p:nvPr/>
        </p:nvSpPr>
        <p:spPr>
          <a:xfrm>
            <a:off x="171225" y="3454025"/>
            <a:ext cx="4372500" cy="1436700"/>
          </a:xfrm>
          <a:prstGeom prst="horizontalScroll">
            <a:avLst>
              <a:gd fmla="val 12500" name="adj"/>
            </a:avLst>
          </a:prstGeom>
          <a:solidFill>
            <a:srgbClr val="FAF3EC"/>
          </a:solidFill>
          <a:ln cap="flat" cmpd="sng" w="9525">
            <a:solidFill>
              <a:srgbClr val="C97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PURPOSE:</a:t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Shows demand per opportunity.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Compares opportunities quickly.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Guides resource planning.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3" name="Google Shape;583;p59"/>
          <p:cNvSpPr txBox="1"/>
          <p:nvPr/>
        </p:nvSpPr>
        <p:spPr>
          <a:xfrm>
            <a:off x="4763575" y="138800"/>
            <a:ext cx="38418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Row (Horizontal) Chart Visualization</a:t>
            </a:r>
            <a:endParaRPr b="1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84" name="Google Shape;58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7375" y="562100"/>
            <a:ext cx="4148949" cy="256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9"/>
          <p:cNvSpPr/>
          <p:nvPr/>
        </p:nvSpPr>
        <p:spPr>
          <a:xfrm>
            <a:off x="4880950" y="3304575"/>
            <a:ext cx="3841800" cy="1436700"/>
          </a:xfrm>
          <a:prstGeom prst="horizontalScroll">
            <a:avLst>
              <a:gd fmla="val 12500" name="adj"/>
            </a:avLst>
          </a:prstGeom>
          <a:solidFill>
            <a:srgbClr val="FAF3EC"/>
          </a:solidFill>
          <a:ln cap="flat" cmpd="sng" w="9525">
            <a:solidFill>
              <a:srgbClr val="C97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PURPOSE:</a:t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Shows application volume by country.</a:t>
            </a:r>
            <a:b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Highlights geographic trends.</a:t>
            </a:r>
            <a:b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Supports regional strategy.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00" y="503225"/>
            <a:ext cx="7565577" cy="256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0"/>
          <p:cNvSpPr txBox="1"/>
          <p:nvPr/>
        </p:nvSpPr>
        <p:spPr>
          <a:xfrm>
            <a:off x="3036075" y="124025"/>
            <a:ext cx="2944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Pie &amp; Donut </a:t>
            </a: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Chart Visualization</a:t>
            </a:r>
            <a:endParaRPr b="1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2" name="Google Shape;592;p60"/>
          <p:cNvSpPr/>
          <p:nvPr/>
        </p:nvSpPr>
        <p:spPr>
          <a:xfrm>
            <a:off x="443400" y="3586125"/>
            <a:ext cx="2742300" cy="1171200"/>
          </a:xfrm>
          <a:prstGeom prst="verticalScroll">
            <a:avLst>
              <a:gd fmla="val 12500" name="adj"/>
            </a:avLst>
          </a:prstGeom>
          <a:solidFill>
            <a:srgbClr val="FFF6E5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PURPOSE:</a:t>
            </a:r>
            <a:endParaRPr b="1" i="1" sz="1200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Instrument Sans"/>
                <a:ea typeface="Instrument Sans"/>
                <a:cs typeface="Instrument Sans"/>
                <a:sym typeface="Instrument Sans"/>
              </a:rPr>
              <a:t>Highlights learner diversity, avoids duplicate counts.</a:t>
            </a:r>
            <a:endParaRPr i="1" sz="12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3" name="Google Shape;593;p60"/>
          <p:cNvSpPr/>
          <p:nvPr/>
        </p:nvSpPr>
        <p:spPr>
          <a:xfrm>
            <a:off x="3258325" y="3586025"/>
            <a:ext cx="2742300" cy="1171200"/>
          </a:xfrm>
          <a:prstGeom prst="verticalScroll">
            <a:avLst>
              <a:gd fmla="val 12500" name="adj"/>
            </a:avLst>
          </a:prstGeom>
          <a:solidFill>
            <a:srgbClr val="FFF6E5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PURPOSE:</a:t>
            </a:r>
            <a:endParaRPr b="1" i="1" sz="1200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Instrument Sans"/>
                <a:ea typeface="Instrument Sans"/>
                <a:cs typeface="Instrument Sans"/>
                <a:sym typeface="Instrument Sans"/>
              </a:rPr>
              <a:t> Shows demographic split of applicants.</a:t>
            </a:r>
            <a:endParaRPr i="1" sz="12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4" name="Google Shape;594;p60"/>
          <p:cNvSpPr/>
          <p:nvPr/>
        </p:nvSpPr>
        <p:spPr>
          <a:xfrm>
            <a:off x="6000625" y="3586125"/>
            <a:ext cx="2742300" cy="1120800"/>
          </a:xfrm>
          <a:prstGeom prst="verticalScroll">
            <a:avLst>
              <a:gd fmla="val 12500" name="adj"/>
            </a:avLst>
          </a:prstGeom>
          <a:solidFill>
            <a:srgbClr val="FFF6E5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PURPOSE:</a:t>
            </a:r>
            <a:endParaRPr b="1" i="1" sz="1200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Instrument Sans"/>
                <a:ea typeface="Instrument Sans"/>
                <a:cs typeface="Instrument Sans"/>
                <a:sym typeface="Instrument Sans"/>
              </a:rPr>
              <a:t>Tracks learners by application stage.</a:t>
            </a:r>
            <a:br>
              <a:rPr i="1" lang="en" sz="1200">
                <a:latin typeface="Instrument Sans"/>
                <a:ea typeface="Instrument Sans"/>
                <a:cs typeface="Instrument Sans"/>
                <a:sym typeface="Instrument Sans"/>
              </a:rPr>
            </a:br>
            <a:endParaRPr i="1" sz="12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95" name="Google Shape;595;p60" title="SEO-logo-excelera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5550" y="4668606"/>
            <a:ext cx="1114500" cy="52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50" y="621025"/>
            <a:ext cx="4109500" cy="282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61"/>
          <p:cNvSpPr txBox="1"/>
          <p:nvPr/>
        </p:nvSpPr>
        <p:spPr>
          <a:xfrm>
            <a:off x="1183350" y="116950"/>
            <a:ext cx="23127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Line </a:t>
            </a: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Chart Visualization</a:t>
            </a:r>
            <a:endParaRPr b="1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02" name="Google Shape;602;p61" title="SEO-logo-excelera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5550" y="4668606"/>
            <a:ext cx="1114500" cy="528693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1"/>
          <p:cNvSpPr/>
          <p:nvPr/>
        </p:nvSpPr>
        <p:spPr>
          <a:xfrm>
            <a:off x="284950" y="3586125"/>
            <a:ext cx="3899100" cy="1487400"/>
          </a:xfrm>
          <a:prstGeom prst="horizontalScroll">
            <a:avLst>
              <a:gd fmla="val 12500" name="adj"/>
            </a:avLst>
          </a:prstGeom>
          <a:solidFill>
            <a:srgbClr val="FAF3EC"/>
          </a:solidFill>
          <a:ln cap="flat" cmpd="sng" w="9525">
            <a:solidFill>
              <a:srgbClr val="C97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PURPOSE:</a:t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Tracks enrollment growth across cohorts.</a:t>
            </a:r>
            <a:b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Monitors conversion trends over time.</a:t>
            </a:r>
            <a:b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Helps evaluate program effectiveness.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04" name="Google Shape;604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5100" y="621025"/>
            <a:ext cx="4104678" cy="2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1"/>
          <p:cNvSpPr/>
          <p:nvPr/>
        </p:nvSpPr>
        <p:spPr>
          <a:xfrm>
            <a:off x="4446325" y="3442275"/>
            <a:ext cx="4476300" cy="1487400"/>
          </a:xfrm>
          <a:prstGeom prst="horizontalScroll">
            <a:avLst>
              <a:gd fmla="val 12500" name="adj"/>
            </a:avLst>
          </a:prstGeom>
          <a:solidFill>
            <a:srgbClr val="FAF3EC"/>
          </a:solidFill>
          <a:ln cap="flat" cmpd="sng" w="9525">
            <a:solidFill>
              <a:srgbClr val="C97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PURPOSE:</a:t>
            </a:r>
            <a:endParaRPr b="1" i="1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Shows enrollment efficiency by region and category.</a:t>
            </a:r>
            <a:b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Identifies strong and weak areas.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Instrument Sans"/>
                <a:ea typeface="Instrument Sans"/>
                <a:cs typeface="Instrument Sans"/>
                <a:sym typeface="Instrument Sans"/>
              </a:rPr>
              <a:t>Guides targeted improvements.</a:t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6" name="Google Shape;606;p61"/>
          <p:cNvSpPr txBox="1"/>
          <p:nvPr/>
        </p:nvSpPr>
        <p:spPr>
          <a:xfrm>
            <a:off x="5489938" y="116950"/>
            <a:ext cx="26550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Heatmap Chart Visualization</a:t>
            </a:r>
            <a:endParaRPr b="1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/>
          <p:cNvSpPr txBox="1"/>
          <p:nvPr/>
        </p:nvSpPr>
        <p:spPr>
          <a:xfrm>
            <a:off x="3355725" y="131525"/>
            <a:ext cx="23127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Dashboard Report Table</a:t>
            </a:r>
            <a:endParaRPr b="1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12" name="Google Shape;612;p62"/>
          <p:cNvSpPr/>
          <p:nvPr/>
        </p:nvSpPr>
        <p:spPr>
          <a:xfrm>
            <a:off x="2301150" y="3013925"/>
            <a:ext cx="4081800" cy="1996800"/>
          </a:xfrm>
          <a:prstGeom prst="horizontalScroll">
            <a:avLst>
              <a:gd fmla="val 12500" name="adj"/>
            </a:avLst>
          </a:prstGeom>
          <a:solidFill>
            <a:srgbClr val="FFF6E5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Purpose of Adding a Table Report in Dashboard: </a:t>
            </a: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Provides detailed, row-level data for deeper analysis. Allows easy comparison of multiple metrics side by side. Supports data validation and quick reference for decision-making.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13" name="Google Shape;613;p62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550" y="4668606"/>
            <a:ext cx="1114500" cy="528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75" y="625400"/>
            <a:ext cx="8328174" cy="23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75" y="668118"/>
            <a:ext cx="4419601" cy="419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63"/>
          <p:cNvPicPr preferRelativeResize="0"/>
          <p:nvPr/>
        </p:nvPicPr>
        <p:blipFill rotWithShape="1">
          <a:blip r:embed="rId4">
            <a:alphaModFix/>
          </a:blip>
          <a:srcRect b="0" l="0" r="0" t="2075"/>
          <a:stretch/>
        </p:blipFill>
        <p:spPr>
          <a:xfrm>
            <a:off x="4901325" y="1162875"/>
            <a:ext cx="4027100" cy="32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63"/>
          <p:cNvSpPr/>
          <p:nvPr/>
        </p:nvSpPr>
        <p:spPr>
          <a:xfrm flipH="1" rot="3551">
            <a:off x="4666575" y="2798922"/>
            <a:ext cx="290400" cy="211800"/>
          </a:xfrm>
          <a:prstGeom prst="leftArrow">
            <a:avLst>
              <a:gd fmla="val 50000" name="adj1"/>
              <a:gd fmla="val 82435" name="adj2"/>
            </a:avLst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2" name="Google Shape;622;p63"/>
          <p:cNvSpPr txBox="1"/>
          <p:nvPr/>
        </p:nvSpPr>
        <p:spPr>
          <a:xfrm>
            <a:off x="2872275" y="119900"/>
            <a:ext cx="3146700" cy="459900"/>
          </a:xfrm>
          <a:prstGeom prst="rect">
            <a:avLst/>
          </a:prstGeom>
          <a:noFill/>
          <a:ln cap="flat" cmpd="sng" w="9525">
            <a:solidFill>
              <a:srgbClr val="118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1819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Insights to Business Action</a:t>
            </a:r>
            <a:endParaRPr b="1" sz="1500">
              <a:solidFill>
                <a:srgbClr val="11819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23" name="Google Shape;623;p63" title="SEO-logo-excelera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0979" y="16000"/>
            <a:ext cx="1358397" cy="6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4"/>
          <p:cNvSpPr txBox="1"/>
          <p:nvPr/>
        </p:nvSpPr>
        <p:spPr>
          <a:xfrm>
            <a:off x="862400" y="221000"/>
            <a:ext cx="21948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41B4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Conclusion</a:t>
            </a:r>
            <a:endParaRPr b="1" sz="2400">
              <a:solidFill>
                <a:srgbClr val="741B47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9" name="Google Shape;629;p64"/>
          <p:cNvSpPr/>
          <p:nvPr/>
        </p:nvSpPr>
        <p:spPr>
          <a:xfrm>
            <a:off x="1003275" y="865400"/>
            <a:ext cx="7017600" cy="2287500"/>
          </a:xfrm>
          <a:prstGeom prst="bevel">
            <a:avLst>
              <a:gd fmla="val 12500" name="adj"/>
            </a:avLst>
          </a:prstGeom>
          <a:solidFill>
            <a:schemeClr val="accent3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Lora SemiBold"/>
                <a:ea typeface="Lora SemiBold"/>
                <a:cs typeface="Lora SemiBold"/>
                <a:sym typeface="Lora SemiBold"/>
              </a:rPr>
              <a:t>Finally, the dashboard is ready, offering clear insights on applications, enrollments, learner demographics, and cohort performance for informed decisions. As a team, we collaborated effectively and enhanced our skills in Data analysis, Data visualizations,KPI &amp; Metrics  tracking and lastly b</a:t>
            </a:r>
            <a:r>
              <a:rPr lang="en">
                <a:solidFill>
                  <a:srgbClr val="741B47"/>
                </a:solidFill>
                <a:latin typeface="Lora SemiBold"/>
                <a:ea typeface="Lora SemiBold"/>
                <a:cs typeface="Lora SemiBold"/>
                <a:sym typeface="Lora SemiBold"/>
              </a:rPr>
              <a:t>uilding</a:t>
            </a:r>
            <a:r>
              <a:rPr lang="en">
                <a:solidFill>
                  <a:srgbClr val="741B47"/>
                </a:solidFill>
                <a:latin typeface="Lora SemiBold"/>
                <a:ea typeface="Lora SemiBold"/>
                <a:cs typeface="Lora SemiBold"/>
                <a:sym typeface="Lora SemiBold"/>
              </a:rPr>
              <a:t> up a cleared Visual Dashboard.</a:t>
            </a:r>
            <a:endParaRPr>
              <a:solidFill>
                <a:srgbClr val="741B47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630" name="Google Shape;630;p64"/>
          <p:cNvSpPr txBox="1"/>
          <p:nvPr/>
        </p:nvSpPr>
        <p:spPr>
          <a:xfrm>
            <a:off x="2071275" y="3788325"/>
            <a:ext cx="4881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274E1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Link Of Access Dashboard Report in Looker Studio:  </a:t>
            </a:r>
            <a:r>
              <a:rPr lang="en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https://lookerstudio.google.com/reporting/f5cee034-e374-4f6f-b313-264f8b375e4d</a:t>
            </a:r>
            <a:endParaRPr>
              <a:solidFill>
                <a:srgbClr val="0B5394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31" name="Google Shape;631;p64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0979" y="16000"/>
            <a:ext cx="1358397" cy="6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5"/>
          <p:cNvSpPr txBox="1"/>
          <p:nvPr>
            <p:ph type="title"/>
          </p:nvPr>
        </p:nvSpPr>
        <p:spPr>
          <a:xfrm>
            <a:off x="291800" y="465200"/>
            <a:ext cx="56664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Lora"/>
                <a:ea typeface="Lora"/>
                <a:cs typeface="Lora"/>
                <a:sym typeface="Lora"/>
              </a:rPr>
              <a:t>Thank you</a:t>
            </a:r>
            <a:r>
              <a:rPr lang="en"/>
              <a:t> </a:t>
            </a:r>
            <a:endParaRPr/>
          </a:p>
        </p:txBody>
      </p:sp>
      <p:pic>
        <p:nvPicPr>
          <p:cNvPr id="637" name="Google Shape;637;p65" title="SEO-logo-excele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625" y="1276225"/>
            <a:ext cx="3871950" cy="1926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65"/>
          <p:cNvSpPr txBox="1"/>
          <p:nvPr/>
        </p:nvSpPr>
        <p:spPr>
          <a:xfrm>
            <a:off x="511075" y="3415500"/>
            <a:ext cx="5573100" cy="15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0B539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Visualization Associate Internship Feedback:</a:t>
            </a:r>
            <a:endParaRPr b="1" i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00"/>
              <a:t>We Gained advanced skills in data visualization and analysis, including master table creation, KPI and metric mapping, filter and drill-down implementation, and developing a comprehensive visual dashboard.</a:t>
            </a:r>
            <a:endParaRPr i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00"/>
              <a:t>Thanks to the team &amp; all associates for their guidance and support.</a:t>
            </a:r>
            <a:endParaRPr i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39" name="Google Shape;63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6275" y="1450286"/>
            <a:ext cx="1424425" cy="12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9575" y="1542690"/>
            <a:ext cx="1076700" cy="1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65" title="question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9575" y="2630400"/>
            <a:ext cx="2160126" cy="7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